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60520"/>
            <a:ext cx="12191695" cy="317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ochschuleEsslingen_Logo_4c_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1896373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82880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7A29A"/>
                </a:solidFill>
                <a:latin typeface="Calibri"/>
              </a:rPr>
              <a:t>MASTERARBEIT  ·  VERTEIDIGUNG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10881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FFFFFF"/>
                </a:solidFill>
                <a:latin typeface="Calibri Light"/>
              </a:rPr>
              <a:t>Prognose individuellen Mobilitätsverhaltens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BFD8EE"/>
                </a:solidFill>
                <a:latin typeface="Calibri Light"/>
              </a:rPr>
              <a:t>auf Basis eines mit Bewegungsdaten trainierten Machine-Learning-Modells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480560"/>
            <a:ext cx="107899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Achim Baumgärtner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CED9E3"/>
                </a:solidFill>
                <a:latin typeface="Calibri"/>
              </a:rPr>
              <a:t>Matrikelnummer 766010   ·   Fakultät Informatik, Hochschule Esslingen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ED9E3"/>
                </a:solidFill>
                <a:latin typeface="Calibri"/>
              </a:rPr>
              <a:t>Erstgutachter: Prof. Dr. Sonntag      Zweitgutachter: Prof. Dr. Schober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ÜBERBLICK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28800"/>
            <a:ext cx="5257800" cy="3931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55080" y="1828800"/>
            <a:ext cx="5257800" cy="3931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1.  Motivation &amp; Problemstellung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2.  Zielsetzung &amp; Forschungsfragen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3.  Stand der Forschung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4.  Datengrundlage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148840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5.  Methodik &amp; System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6.  Ergebnisse: Datenqualität vs. Algorithmus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7.  Diskussion &amp; Limitationen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700" b="1" i="0">
                <a:solidFill>
                  <a:srgbClr val="102A43"/>
                </a:solidFill>
                <a:latin typeface="Calibri"/>
              </a:rPr>
              <a:t>8.  Fazit &amp; Ausblick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FD8EE"/>
                </a:solidFill>
                <a:latin typeface="Calibri"/>
              </a:rPr>
              <a:t>01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 Light"/>
              </a:rPr>
              <a:t>Motivation &amp; Problemstellung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062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FD8EE"/>
                </a:solidFill>
                <a:latin typeface="Calibri"/>
              </a:rPr>
              <a:t>Warum individuelle Mobilitätsprognose für die Energiewende zählt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MOTIVATION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Vom Verbraucher zum mobilen Speicher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Elektromobilität reduziert Emissionen und fossile Abhängigkeiten – und eröffnet eine neue Rolle in der Energieversorgung.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Vehicle-to-Grid (V2G): Fahrzeuge nehmen Energie nicht nur auf, sondern geben sie ans Netz zurück.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Mobile Akkus könnten überschüssige erneuerbare Energie speichern – ein zentraler Baustein der Energiewende.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Der Nutzen entsteht aber nur bei intelligenter Steuerung der Lade-/Entladezyklen.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Steuerung setzt voraus, dass man weiß, wann ein Fahrzeug fährt und wann es geparkt (= verfügbar) ist.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Fehlprognosen → fehlerhafte Energieverwaltung, im Extremfall Nichtverfügbarkeit des Fahrzeugs.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PROBLEMSTELLUNG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Forschungslücke: das Individuum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Bestehende Arbeiten prognostizieren v. a. Ladezeitpunkt, Leistung, Ladezustand – und aggregiertes Verhalten ganzer Gruppen.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Das individuelle Fahr-/Nutzungsverhalten einzelner Fahrzeuge wird kaum modelliert – gerade dieses ist für die Steuerung nötig.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Individualverkehr ist stark heterogen: ein einzelnes übergreifendes Modell erfasst den Kontext nicht vollständig.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Datenbasis der wenigen einschlägigen Studien ist oft unzureichend oder – bei synthetischen Profilen – nicht zuverlässig repräsentativ.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Kernproblem: stabile, hochqualitative Datengrundlage – wobei „Qualität" hier erst über Kriterien definiert werden muss.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FD8EE"/>
                </a:solidFill>
                <a:latin typeface="Calibri"/>
              </a:rPr>
              <a:t>02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 Light"/>
              </a:rPr>
              <a:t>Zielsetzung &amp; Forschungsfragen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WAS DIE ARBEIT LEISTEN SOLL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Zielsetzung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Zuverlässige Modelle zur Prognose individuellen Mobilitätsverhaltens entwickeln.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Konkret: pro Stunde vorhersagen, wann ein Fahrzeug fährt und wann es parkt – über einen Horizont von bis zu 7 Tagen.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Datengrundlage qualitativ bewerten und, wo nötig, aus Datenschutzgründen anonymisieren.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Vorhersagegenauigkeit verschiedener Modelle vergleichen und Einflussfaktoren quantifizieren.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Beitrag: Grundlage für eine intelligente Steuerung der Energieflüsse zwischen Fahrzeug und Netz.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LEITFADEN DER ARBEIT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Forschungsfragen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1280160" cy="7498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1280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45920"/>
            <a:ext cx="9418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128"/>
                </a:solidFill>
                <a:latin typeface="Calibri"/>
              </a:rPr>
              <a:t>Wie zuverlässig lässt sich individuelles Mobilitätsverhalten einzelner Fahrzeuge über bis zu 7 Tage vorhersagen?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14600"/>
            <a:ext cx="1280160" cy="749808"/>
          </a:xfrm>
          <a:prstGeom prst="rect">
            <a:avLst/>
          </a:prstGeom>
          <a:solidFill>
            <a:srgbClr val="17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514600"/>
            <a:ext cx="1280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FF1a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514600"/>
            <a:ext cx="9418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128"/>
                </a:solidFill>
                <a:latin typeface="Calibri"/>
              </a:rPr>
              <a:t>Wie unterscheiden sich ML-Verfahren in ihrer Vorhersagegenauigkeit?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383280"/>
            <a:ext cx="1280160" cy="749808"/>
          </a:xfrm>
          <a:prstGeom prst="rect">
            <a:avLst/>
          </a:prstGeom>
          <a:solidFill>
            <a:srgbClr val="17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383280"/>
            <a:ext cx="1280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FF1a-i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383280"/>
            <a:ext cx="9418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128"/>
                </a:solidFill>
                <a:latin typeface="Calibri"/>
              </a:rPr>
              <a:t>Welchen Einfluss hat die Datenqualität / -quelle – getrennt vom Algorithmus-Effekt?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251960"/>
            <a:ext cx="1280160" cy="749808"/>
          </a:xfrm>
          <a:prstGeom prst="rect">
            <a:avLst/>
          </a:prstGeom>
          <a:solidFill>
            <a:srgbClr val="17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251960"/>
            <a:ext cx="1280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FF1b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251960"/>
            <a:ext cx="9418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128"/>
                </a:solidFill>
                <a:latin typeface="Calibri"/>
              </a:rPr>
              <a:t>Welche Merkmale beeinflussen das Verhalten am stärksten?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120640"/>
            <a:ext cx="1280160" cy="749808"/>
          </a:xfrm>
          <a:prstGeom prst="rect">
            <a:avLst/>
          </a:prstGeom>
          <a:solidFill>
            <a:srgbClr val="E8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120640"/>
            <a:ext cx="1280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FF2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120640"/>
            <a:ext cx="9418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128"/>
                </a:solidFill>
                <a:latin typeface="Calibri"/>
              </a:rPr>
              <a:t>Welche Anforderungen an die Datengrundlage ergeben sich, und wie bewertet man ihre Qualität?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989320"/>
            <a:ext cx="1280160" cy="749808"/>
          </a:xfrm>
          <a:prstGeom prst="rect">
            <a:avLst/>
          </a:prstGeom>
          <a:solidFill>
            <a:srgbClr val="E8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989320"/>
            <a:ext cx="12801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FF2a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989320"/>
            <a:ext cx="9418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128"/>
                </a:solidFill>
                <a:latin typeface="Calibri"/>
              </a:rPr>
              <a:t>Wie wirken Aufbereitung und Anonymisierung auf die Nutzbarkeit?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FD8EE"/>
                </a:solidFill>
                <a:latin typeface="Calibri"/>
              </a:rPr>
              <a:t>03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 Light"/>
              </a:rPr>
              <a:t>Stand der Forschung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EINORDNUNG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Vier Forschungsstränge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37360"/>
            <a:ext cx="320040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737360"/>
            <a:ext cx="298094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Forschungsstrang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67328" y="1737360"/>
            <a:ext cx="393192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7056" y="1737360"/>
            <a:ext cx="37124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Typische Methoden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9248" y="1737360"/>
            <a:ext cx="3749039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08976" y="1737360"/>
            <a:ext cx="352958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Offener Punkt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240280"/>
            <a:ext cx="320040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240280"/>
            <a:ext cx="29809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A43"/>
                </a:solidFill>
                <a:latin typeface="Calibri"/>
              </a:rPr>
              <a:t>Mobilitäts-/Nutzungsforecast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7328" y="2240280"/>
            <a:ext cx="393192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77056" y="2240280"/>
            <a:ext cx="371246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128"/>
                </a:solidFill>
                <a:latin typeface="Calibri"/>
              </a:rPr>
              <a:t>ARIMA, Random Forest, LSTM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99248" y="2240280"/>
            <a:ext cx="3749039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8976" y="2240280"/>
            <a:ext cx="3529583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128"/>
                </a:solidFill>
                <a:latin typeface="Calibri"/>
              </a:rPr>
              <a:t>Generalisierung über Fahrzeuge &amp; Quellen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108960"/>
            <a:ext cx="32004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108960"/>
            <a:ext cx="29809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A43"/>
                </a:solidFill>
                <a:latin typeface="Calibri"/>
              </a:rPr>
              <a:t>Driving-/Parking-Klassifikation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67328" y="3108960"/>
            <a:ext cx="39319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77056" y="3108960"/>
            <a:ext cx="371246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128"/>
                </a:solidFill>
                <a:latin typeface="Calibri"/>
              </a:rPr>
              <a:t>Random Forest, SVM, Gradient Boosting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99248" y="3108960"/>
            <a:ext cx="3749039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08976" y="3108960"/>
            <a:ext cx="3529583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128"/>
                </a:solidFill>
                <a:latin typeface="Calibri"/>
              </a:rPr>
              <a:t>Einfluss der Datenqualität auf die Güte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977640"/>
            <a:ext cx="320040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977640"/>
            <a:ext cx="29809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A43"/>
                </a:solidFill>
                <a:latin typeface="Calibri"/>
              </a:rPr>
              <a:t>EV-Last- &amp; Ladeprognose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67328" y="3977640"/>
            <a:ext cx="393192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77056" y="3977640"/>
            <a:ext cx="371246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128"/>
                </a:solidFill>
                <a:latin typeface="Calibri"/>
              </a:rPr>
              <a:t>Gradient Boosting, Deep Learning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99248" y="3977640"/>
            <a:ext cx="3749039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08976" y="3977640"/>
            <a:ext cx="3529583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128"/>
                </a:solidFill>
                <a:latin typeface="Calibri"/>
              </a:rPr>
              <a:t>Vergleichbarkeit synthetisch vs. real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846320"/>
            <a:ext cx="320040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846320"/>
            <a:ext cx="29809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02A43"/>
                </a:solidFill>
                <a:latin typeface="Calibri"/>
              </a:rPr>
              <a:t>Unsicherheits-/Quantilsprognose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67328" y="4846320"/>
            <a:ext cx="393192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77056" y="4846320"/>
            <a:ext cx="371246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128"/>
                </a:solidFill>
                <a:latin typeface="Calibri"/>
              </a:rPr>
              <a:t>Quantilsregression, Quantile-RF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99248" y="4846320"/>
            <a:ext cx="3749039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8976" y="4846320"/>
            <a:ext cx="3529583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128"/>
                </a:solidFill>
                <a:latin typeface="Calibri"/>
              </a:rPr>
              <a:t>Kalibrierung individueller P10/P90-Intervalle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108960"/>
            <a:ext cx="10881359" cy="868680"/>
          </a:xfrm>
          <a:prstGeom prst="rect">
            <a:avLst/>
          </a:prstGeom>
          <a:noFill/>
          <a:ln w="31750">
            <a:solidFill>
              <a:srgbClr val="E87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JI2023RETHINKING · &gt;4 MIO. FAHRTEN, 3743 FAHRER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Heterogenität: fünf Fahrertypen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Homebodies – Wenigfahrer, kurze und seltene Wege, geringe Mobilität.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Gig Drivers – hohes, auftragsgetriebenes Aufkommen ohne festen Arbeitsort.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Movers – breit gestreutes Verhalten, viele wechselnde Ziele, kein klares Muster.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Typical Drivers – Mix aus Arbeit &amp; Freizeit, mittlere Regelmäßigkeit.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Work-focused Commuters – stark regelmäßiges Pendelmuster, hohe Vorhersagbarkeit.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Konsequenz: ein einziges Modell wird dem Individualverkehr nicht gerecht → individuelle / quellenspezifische Modellierung.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FD8EE"/>
                </a:solidFill>
                <a:latin typeface="Calibri"/>
              </a:rPr>
              <a:t>04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 Light"/>
              </a:rPr>
              <a:t>Datengrundlage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DATENGRUNDLAGE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Vier Datenquellen, ein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525780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525780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00784"/>
            <a:ext cx="4846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Quellen (via data_adapters.py)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4754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emobpy – synthetisch generierte EV-Profile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real_world_ev – reale EV-Flottendaten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ved – Vehicle Energy Dataset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routine – reale, regelmäßige Nutzungsprofile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45920"/>
            <a:ext cx="525780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645920"/>
            <a:ext cx="5257800" cy="502920"/>
          </a:xfrm>
          <a:prstGeom prst="rect">
            <a:avLst/>
          </a:prstGeom>
          <a:solidFill>
            <a:srgbClr val="17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700784"/>
            <a:ext cx="4846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Einheitliches Schema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331720"/>
            <a:ext cx="4754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vehicle_id · timestamp · driving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Stündliche Auflösung (floor zur vollen Stunde)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Stark unterschiedliche Aktiv-Raten: ~2 % (real_world_ev) bis ~26 % (routine)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Klassen-Imbalance ist die zentrale Herausforderung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FD8EE"/>
                </a:solidFill>
                <a:latin typeface="Calibri"/>
              </a:rPr>
              <a:t>05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 Light"/>
              </a:rPr>
              <a:t>Methodik &amp;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ARCHITEKTUR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Zwei Modellfamilien, ein Feature-Kern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9</a:t>
            </a:r>
          </a:p>
        </p:txBody>
      </p:sp>
      <p:pic>
        <p:nvPicPr>
          <p:cNvPr id="8" name="Picture 7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10972800" cy="36892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A6672"/>
                </a:solidFill>
                <a:latin typeface="Calibri"/>
              </a:rPr>
              <a:t>Bewusste Trennung der Forschungsschienen: die Cross-Validation (Datenqualität, binär) ist von der Anwendungsschiene (Tages-Forecast, Quantile) entkoppelt.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DATENQUALITÄT ISOLIEREN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Studiendesign: die 4×4-Matrix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Idee: Den Effekt der Datenquelle vom Effekt des Algorithmus trennen (FF1a-i).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Jedes der 4 Quellen-Modelle wird auf jeder der 4 Quellen evaluiert → 16 Kombinationen.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Diagonale = trainiert und evaluiert auf derselben Quelle (Best Case).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Off-Diagonale = Generalisierung über Quellen hinweg (Transfer).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Binärer RandomForest-Classifier „fährt vs. geparkt" pro Stunde, identische Features für alle Quellen.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Metriken: Accuracy, F1, Precision/Recall, ROC-AUC – F1 wegen starker Imbalance im Fokus.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BACKEND · FRONTEND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Implementiertes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525780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525780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00784"/>
            <a:ext cx="4846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Backend (FastAPI, Python 3.13)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4754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Endpunkte: /api/models, /api/forecast, /api/runs, /api/train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Forecaster-Registry: name → Klasse (Duck Typing, keine Basisklasse)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Persistenz: *.joblib pro Modell, Run-Verzeichnisse pro Simulation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Ablations-fähig: RF und LightGBM austauschbar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45920"/>
            <a:ext cx="525780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645920"/>
            <a:ext cx="5257800" cy="502920"/>
          </a:xfrm>
          <a:prstGeom prst="rect">
            <a:avLst/>
          </a:prstGeom>
          <a:solidFill>
            <a:srgbClr val="17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700784"/>
            <a:ext cx="4846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Frontend (Angular 17+, Signals)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331720"/>
            <a:ext cx="4754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Forecast-Tab: Tageskarten + Stunden-Heatmap (Tag × Stunde)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Training-Tab: Läufe ohne Terminal starten, Live-Log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Trip-Blöcke pro Tag (Abfahrt/Rückkehr, P10/P90)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MC- vs. Soft-Mode-Toggle für die Ablation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WANN, NICHT NUR OB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Auto-regressives Monte-Carlo-Forecasting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Stündliches Schwestermodell rollt Stunde für Stunde vorwärts (Lags 1/2/24/168, Rolling 24h/168h).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100 Monte-Carlo-Pfade ziehen je Stunde Bernoulli(p) und reichen das Ergebnis als lag_1 weiter.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Unsicherheit fällt aus der Sample-Streuung heraus → P10/P50/P90 statt separater Annahme.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Breite P10/P90-Bänder zeigen explizit, wann der Forecast nicht vertrauenswürdig ist.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Hybrid: Stunden-Grid ist die Wahrheit, Tageskarten werden daraus aggregiert.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METHODISCHER BEFUND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Problem &amp; Lösung: Forecast-Kollaps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Befund: bei niedriger Basisrate (2–10 % aktiv) kollabierte der Forecast auf pUsed = 0.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Ursache: Klassen-Imbalance + selbstverstärkender autoregressiver Kollaps (frühe Nullen senken p weiter).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Drei Eingriffe: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class_weight = "balanced" – hebt die Minderheitsklasse in den kalibrierten Bereich.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Adaptive Schwelle p ≥ clamp(1.5 · base_rate, 0.30, 0.60) statt fixem 0.5.</a:t>
            </a:r>
          </a:p>
          <a:p>
            <a:pPr algn="l" lvl="1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5A6672"/>
                </a:solidFill>
                <a:latin typeface="Calibri"/>
              </a:rPr>
              <a:t>–  </a:t>
            </a:r>
            <a:r>
              <a:rPr sz="1500" b="0" i="0">
                <a:solidFill>
                  <a:srgbClr val="5A6672"/>
                </a:solidFill>
                <a:latin typeface="Calibri"/>
              </a:rPr>
              <a:t>Soft-Mode – deterministischer Rollout als saubere Ablation gegen Sampling-Rauschen.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FD8EE"/>
                </a:solidFill>
                <a:latin typeface="Calibri"/>
              </a:rPr>
              <a:t>06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 Light"/>
              </a:rPr>
              <a:t>Ergebnisse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20624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FD8EE"/>
                </a:solidFill>
                <a:latin typeface="Calibri"/>
              </a:rPr>
              <a:t>Datenqualität vs. Algorithmus – die 4×4-Cross-Validation-Matrix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ERGEBNISSE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Cross-Validation: F1 und ROC-AUC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14</a:t>
            </a:r>
          </a:p>
        </p:txBody>
      </p:sp>
      <p:pic>
        <p:nvPicPr>
          <p:cNvPr id="8" name="Picture 7" descr="cv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4768879" cy="4160520"/>
          </a:xfrm>
          <a:prstGeom prst="rect">
            <a:avLst/>
          </a:prstGeom>
        </p:spPr>
      </p:pic>
      <p:pic>
        <p:nvPicPr>
          <p:cNvPr id="9" name="Picture 8" descr="cv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91640"/>
            <a:ext cx="4768879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A6672"/>
                </a:solidFill>
                <a:latin typeface="Calibri"/>
              </a:rPr>
              <a:t>Orange umrandet: Diagonale (trainiert = evaluiert). Zeilen = Trainingsquelle, Spalten = Evaluationsquelle.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INTERPRETATION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Kernbefunde der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Datenqualität dominiert: routine (Aktiv-Rate ~26 %) erreicht auf sich selbst F1 0,83 und ROC-AUC 0,96.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Synthetisch ≠ real: das emobpy-Modell generalisiert schwach (F1 nahe 0 auf den meisten Quellen).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ved ist degeneriert: F1 = 0 selbst auf sich selbst – der Classifier sagt durchgängig „geparkt" (Imbalance-Falle).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Bester Transfer: real_world_ev → routine erreicht F1 0,66 – reale Trainingsdaten übertragen besser als synthetische.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Antwort auf FF1a-i: Die Datenquelle erklärt den Großteil der Streuung – mehr als die Wahl des Algorithmus.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FD8EE"/>
                </a:solidFill>
                <a:latin typeface="Calibri"/>
              </a:rPr>
              <a:t>07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 Light"/>
              </a:rPr>
              <a:t>Diskussion &amp; Limitationen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DISKUSSION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Einordnung &amp; Grenzen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525780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525780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00784"/>
            <a:ext cx="4846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Implikationen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4754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Quellenspezifische Modellierung ist gerechtfertigt (Heterogenität bestätigt).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Explizite Unsicherheit (P10/P90) ist für eine sichere V2G-Steuerung essenziell.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Datenqualitäts-Kriterien (Aktiv-Rate, Regelmäßigkeit) wirken direkt auf die Prognosegüte.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645920"/>
            <a:ext cx="5257800" cy="4480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645920"/>
            <a:ext cx="5257800" cy="502920"/>
          </a:xfrm>
          <a:prstGeom prst="rect">
            <a:avLst/>
          </a:prstGeom>
          <a:solidFill>
            <a:srgbClr val="17A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1700784"/>
            <a:ext cx="4846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Limitationen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331720"/>
            <a:ext cx="4754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Zeitliche Auflösung fix bei 1 Stunde (Datenpipeline-Diskretisierung).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Imbalance verzerrt schwache Quellen (ved kollabiert).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Ablation noch offen: LSTM / TFT als nächste Stufen ausstehend.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400" b="0" i="0">
                <a:solidFill>
                  <a:srgbClr val="1B2128"/>
                </a:solidFill>
                <a:latin typeface="Calibri"/>
              </a:rPr>
              <a:t>Robustheit gegen unvollständige/fehlerhafte Daten noch in Arbeit.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12801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BFD8EE"/>
                </a:solidFill>
                <a:latin typeface="Calibri"/>
              </a:rPr>
              <a:t>08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 Light"/>
              </a:rPr>
              <a:t>Fazit &amp; Ausblick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FAZIT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Beantwortung der Forschungsfragen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91640"/>
            <a:ext cx="1371600" cy="9601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91640"/>
            <a:ext cx="1371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91640"/>
            <a:ext cx="9326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128"/>
                </a:solidFill>
                <a:latin typeface="Calibri"/>
              </a:rPr>
              <a:t>Individuelles Verhalten ist über 7 Tage prognostizierbar – aber stark quellenabhängig. Regelmäßige reale Profile (routine) sind gut vorhersagbar, niedrigaktive Quellen schwierig.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788920"/>
            <a:ext cx="1371600" cy="9601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788920"/>
            <a:ext cx="1371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FF1a/i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788920"/>
            <a:ext cx="9326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128"/>
                </a:solidFill>
                <a:latin typeface="Calibri"/>
              </a:rPr>
              <a:t>Die Datenquelle erklärt mehr Varianz als der Algorithmus. RF und LightGBM liefern ähnliche Güte; die Datenqualität ist der dominante Hebel.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886200"/>
            <a:ext cx="1371600" cy="9601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886200"/>
            <a:ext cx="1371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FF1b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86200"/>
            <a:ext cx="9326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128"/>
                </a:solidFill>
                <a:latin typeface="Calibri"/>
              </a:rPr>
              <a:t>Zeit- und Lag-/Rolling-Merkmale (hour, weekday, Lags 1/24/168) tragen die Vorhersage.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983480"/>
            <a:ext cx="1371600" cy="9601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983480"/>
            <a:ext cx="13716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FF2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983480"/>
            <a:ext cx="9326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128"/>
                </a:solidFill>
                <a:latin typeface="Calibri"/>
              </a:rPr>
              <a:t>Qualität = ausreichende Aktiv-Rate + Regelmäßigkeit. Stündliche Diskretisierung statt künstlicher Interpolation hält die Daten ehrlich.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7A29A"/>
                </a:solidFill>
                <a:latin typeface="Calibri"/>
              </a:rPr>
              <a:t>NÄCHSTE SCHRITTE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02A43"/>
                </a:solidFill>
                <a:latin typeface="Calibri Light"/>
              </a:rPr>
              <a:t>Ausblick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0881360" cy="279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55664"/>
            <a:ext cx="10881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A6672"/>
                </a:solidFill>
                <a:latin typeface="Calibri"/>
              </a:rPr>
              <a:t>Prognose individuellen Mobilitätsverhaltens  ·  Achim Baumgärtner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55664"/>
            <a:ext cx="640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A6672"/>
                </a:solidFill>
                <a:latin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00200"/>
            <a:ext cx="108813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Ablationsstudie vervollständigen: LogReg → RF → LightGBM → LSTM → TFT.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Robustheit härten: Umgang mit unvollständigen, fehlerhaften und unregelmäßigen Daten.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Imbalance-Strategien für niedrigaktive Quellen (Resampling, fokussierte Verluste).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1B2128"/>
                </a:solidFill>
                <a:latin typeface="Calibri"/>
              </a:rPr>
              <a:t>▸  </a:t>
            </a:r>
            <a:r>
              <a:rPr sz="1800" b="0" i="0">
                <a:solidFill>
                  <a:srgbClr val="1B2128"/>
                </a:solidFill>
                <a:latin typeface="Calibri"/>
              </a:rPr>
              <a:t>Anbindung an reale V2G-Steuerung und Validierung der Quantil-Kalibrierung im Betrieb.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931920"/>
            <a:ext cx="12191695" cy="317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200" b="1" i="0">
                <a:solidFill>
                  <a:srgbClr val="FFFFFF"/>
                </a:solidFill>
                <a:latin typeface="Calibri Light"/>
              </a:rPr>
              <a:t>Vielen Dank für Ihre Aufmerksamkeit.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BFD8EE"/>
                </a:solidFill>
                <a:latin typeface="Calibri"/>
              </a:rPr>
              <a:t>Ich freue mich auf Ihre Fragen.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ED9E3"/>
                </a:solidFill>
                <a:latin typeface="Calibri"/>
              </a:rPr>
              <a:t>Achim Baumgärtner   ·   Prognose individuellen Mobilitätsverhaltens   ·   Hochschule Esslingen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